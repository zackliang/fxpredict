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70" r:id="rId3"/>
    <p:sldId id="269" r:id="rId4"/>
    <p:sldId id="278" r:id="rId5"/>
    <p:sldId id="281" r:id="rId6"/>
    <p:sldId id="282" r:id="rId7"/>
    <p:sldId id="283" r:id="rId8"/>
    <p:sldId id="284" r:id="rId9"/>
    <p:sldId id="285" r:id="rId10"/>
    <p:sldId id="258" r:id="rId11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46EFA65-CDF3-4015-960A-E29621B46B0A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000000"/>
              </a:solidFill>
              <a:prstDash val="solid"/>
            </a:ln>
          </a:left>
          <a:right>
            <a:ln w="9525" cmpd="sng">
              <a:solidFill>
                <a:srgbClr val="000000"/>
              </a:solidFill>
              <a:prstDash val="solid"/>
            </a:ln>
          </a:right>
          <a:top>
            <a:ln w="9525" cmpd="sng">
              <a:solidFill>
                <a:srgbClr val="000000"/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insideH>
          <a:insideV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>
        <a:fontRef idx="none">
          <a:srgbClr val="08090C"/>
        </a:fontRef>
      </a:tcTxStyle>
      <a:tcStyle>
        <a:tcBdr/>
        <a:fill>
          <a:solidFill>
            <a:srgbClr val="000000">
              <a:lumMod val="10000"/>
              <a:lumOff val="90000"/>
            </a:srgbClr>
          </a:solidFill>
        </a:fill>
      </a:tcStyle>
    </a:band2H>
    <a:band1V>
      <a:tcStyle>
        <a:tcBdr>
          <a:left>
            <a:ln w="9525" cmpd="sng">
              <a:solidFill>
                <a:srgbClr val="000000"/>
              </a:solidFill>
              <a:prstDash val="solid"/>
            </a:ln>
          </a:left>
          <a:right>
            <a:ln w="9525" cmpd="sng">
              <a:solidFill>
                <a:srgbClr val="000000"/>
              </a:solidFill>
              <a:prstDash val="solid"/>
            </a:ln>
          </a:right>
          <a:top>
            <a:ln w="9525" cmpd="sng">
              <a:solidFill>
                <a:srgbClr val="000000"/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 w="9525" cmpd="sng">
              <a:solidFill>
                <a:srgbClr val="000000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000000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000000">
              <a:lumMod val="10000"/>
              <a:lumOff val="90000"/>
            </a:srgbClr>
          </a:solidFill>
        </a:fill>
      </a:tcStyle>
    </a:band1V>
    <a:band2V>
      <a:tcStyle>
        <a:tcBdr>
          <a:left>
            <a:ln w="9525" cmpd="sng">
              <a:solidFill>
                <a:srgbClr val="000000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000000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000000"/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 w="9525" cmpd="sng">
              <a:solidFill>
                <a:srgbClr val="000000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left>
          <a:right>
            <a:ln w="9525" cmpd="sng">
              <a:solidFill>
                <a:srgbClr val="000000"/>
              </a:solidFill>
              <a:prstDash val="solid"/>
            </a:ln>
          </a:right>
          <a:top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000000"/>
              </a:solidFill>
              <a:prstDash val="solid"/>
            </a:ln>
          </a:left>
          <a:right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right>
          <a:top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000000"/>
              </a:solidFill>
              <a:prstDash val="solid"/>
            </a:ln>
          </a:left>
          <a:right>
            <a:ln w="9525" cmpd="sng">
              <a:solidFill>
                <a:srgbClr val="000000"/>
              </a:solidFill>
              <a:prstDash val="solid"/>
            </a:ln>
          </a:right>
          <a:top>
            <a:ln w="9525" cmpd="sng">
              <a:solidFill>
                <a:srgbClr val="000000"/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rgbClr val="000000"/>
              </a:solidFill>
              <a:prstDash val="solid"/>
            </a:ln>
          </a:right>
          <a:top>
            <a:ln w="9525" cmpd="sng">
              <a:solidFill>
                <a:srgbClr val="000000"/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rgbClr val="000000"/>
        </a:fontRef>
      </a:tcTxStyle>
      <a:tcStyle>
        <a:tcBdr>
          <a:left>
            <a:ln w="9525" cmpd="sng">
              <a:solidFill>
                <a:srgbClr val="000000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000000"/>
              </a:solidFill>
              <a:prstDash val="solid"/>
            </a:ln>
          </a:top>
          <a:bottom>
            <a:ln w="9525" cmpd="sng">
              <a:solidFill>
                <a:srgbClr val="000000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000000"/>
              </a:solidFill>
              <a:prstDash val="solid"/>
            </a:ln>
          </a:left>
          <a:right>
            <a:ln w="9525" cmpd="sng">
              <a:solidFill>
                <a:srgbClr val="000000"/>
              </a:solidFill>
              <a:prstDash val="solid"/>
            </a:ln>
          </a:right>
          <a:top>
            <a:ln w="9525" cmpd="sng">
              <a:solidFill>
                <a:srgbClr val="000000"/>
              </a:solidFill>
              <a:prstDash val="solid"/>
            </a:ln>
          </a:top>
          <a:bottom>
            <a:ln w="9525" cmpd="sng">
              <a:solidFill>
                <a:srgbClr val="000000">
                  <a:lumMod val="34000"/>
                  <a:lumOff val="66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FFFF"/>
              </a:solidFill>
              <a:prstDash val="solid"/>
            </a:ln>
          </a:insideV>
        </a:tcBdr>
        <a:fill>
          <a:solidFill>
            <a:srgbClr val="000000">
              <a:lumMod val="20000"/>
              <a:lumOff val="8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7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3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18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E:\陈国烽\WEBANK VI\PPT 方向\PPT 4比3\首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-27305"/>
            <a:ext cx="9144000" cy="685800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251520" y="2276872"/>
            <a:ext cx="6336888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黑体" panose="02010609060101010101" charset="-122"/>
                <a:ea typeface="黑体" panose="02010609060101010101" charset="-122"/>
              </a:rPr>
              <a:t>基于自适应时空图神经网络的外汇汇率预测与统计套利策略研究</a:t>
            </a:r>
            <a:endParaRPr lang="zh-CN" altLang="en-US" sz="32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3644900"/>
            <a:ext cx="324016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汇报人：祁涵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陈国烽\WEBANK VI\PPT 方向\PPT 4比3\正文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6870" y="642620"/>
            <a:ext cx="741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核心挑战：外汇市场的三大特性</a:t>
            </a:r>
            <a:endParaRPr lang="zh-CN" altLang="en-US" sz="2800" b="1" spc="-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00034" y="1268717"/>
            <a:ext cx="571504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56870" y="1484630"/>
            <a:ext cx="840676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分布漂移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--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现象：受宏观经济与政策干预影响，汇率数据呈现显著的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</a:rPr>
              <a:t>时变非平稳性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</a:rPr>
              <a:t>--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后果：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sym typeface="+mn-ea"/>
              </a:rPr>
              <a:t>训练集与测试集的统计特性可能不一致，导致模型在推断阶段发生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sym typeface="+mn-ea"/>
              </a:rPr>
              <a:t>泛化能力衰退</a:t>
            </a:r>
            <a:endParaRPr lang="zh-CN" altLang="en-US" b="1"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低信噪比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--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现象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：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高频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汇率数据包含大量随机游走分量与微观结构噪声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--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后果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：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真实的市场趋势信号被高频扰动淹没，模型易陷入过拟合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隐式拓扑缺失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--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现象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货币对之间存在复杂的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三角套利约束与宏观联动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，传统通道独立模型忽略了这种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序列间依赖</a:t>
            </a:r>
            <a:endParaRPr lang="zh-CN" altLang="en-US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--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后果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丢失关键的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系统性拓扑信息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陈国烽\WEBANK VI\PPT 方向\PPT 4比3\正文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6870" y="642620"/>
            <a:ext cx="741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  <a:r>
              <a:rPr lang="en-US" altLang="zh-CN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1：RevIN </a:t>
            </a:r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实例归一化模块</a:t>
            </a:r>
            <a:endParaRPr lang="zh-CN" altLang="en-US" sz="2800" b="1" spc="-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00034" y="1268717"/>
            <a:ext cx="571504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截屏2026-02-01 11.06.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785" y="2204720"/>
            <a:ext cx="4232910" cy="20631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56870" y="1484630"/>
                <a:ext cx="4573270" cy="4735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核心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原理</a:t>
                </a:r>
                <a:endPara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>
                    <a:latin typeface="仿宋" panose="02010609060101010101" charset="-122"/>
                    <a:ea typeface="仿宋" panose="02010609060101010101" charset="-122"/>
                  </a:rPr>
                  <a:t>通过解耦时变统计量</a:t>
                </a:r>
                <a:r>
                  <a:rPr lang="en-US" altLang="zh-CN">
                    <a:latin typeface="仿宋" panose="02010609060101010101" charset="-122"/>
                    <a:ea typeface="仿宋" panose="02010609060101010101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ea typeface="仿宋" panose="02010609060101010101" charset="-122"/>
                        <a:cs typeface="DejaVu Math TeX Gyre" panose="02000503000000000000" charset="0"/>
                      </a:rPr>
                      <m:t>𝜇</m:t>
                    </m:r>
                  </m:oMath>
                </a14:m>
                <a:r>
                  <a:rPr lang="en-US" altLang="zh-CN">
                    <a:latin typeface="仿宋" panose="02010609060101010101" charset="-122"/>
                    <a:ea typeface="仿宋" panose="02010609060101010101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ea typeface="仿宋" panose="02010609060101010101" charset="-122"/>
                        <a:cs typeface="DejaVu Math TeX Gyre" panose="02000503000000000000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仿宋" panose="02010609060101010101" charset="-122"/>
                    <a:ea typeface="仿宋" panose="02010609060101010101" charset="-122"/>
                  </a:rPr>
                  <a:t>)</a:t>
                </a:r>
                <a:r>
                  <a:rPr lang="zh-CN" altLang="en-US">
                    <a:latin typeface="仿宋" panose="02010609060101010101" charset="-122"/>
                    <a:ea typeface="仿宋" panose="02010609060101010101" charset="-122"/>
                  </a:rPr>
                  <a:t>与内在波动模式，消除数据分布漂移，构建稳态学习空间。</a:t>
                </a:r>
                <a:endParaRPr lang="zh-CN" altLang="en-US">
                  <a:latin typeface="仿宋" panose="02010609060101010101" charset="-122"/>
                  <a:ea typeface="仿宋" panose="0201060906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实现流程</a:t>
                </a: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:r>
                  <a:rPr lang="zh-CN" altLang="en-US">
                    <a:latin typeface="仿宋" charset="0"/>
                    <a:ea typeface="仿宋" charset="0"/>
                  </a:rPr>
                  <a:t>输入归一化：计算窗口统计量，移除趋势</a:t>
                </a:r>
                <a:r>
                  <a:rPr lang="en-US" altLang="zh-CN">
                    <a:latin typeface="仿宋" charset="0"/>
                    <a:ea typeface="仿宋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>
                        <a:latin typeface="DejaVu Math TeX Gyre" panose="02000503000000000000" charset="0"/>
                        <a:ea typeface="仿宋" charset="0"/>
                        <a:cs typeface="DejaVu Math TeX Gyre" panose="02000503000000000000" charset="0"/>
                      </a:rPr>
                      <m:t>  </m:t>
                    </m:r>
                    <m:r>
                      <a:rPr lang="en-US" altLang="zh-CN">
                        <a:latin typeface="DejaVu Math TeX Gyre" panose="02000503000000000000" charset="0"/>
                        <a:ea typeface="仿宋" charset="0"/>
                        <a:cs typeface="DejaVu Math TeX Gyre" panose="02000503000000000000" charset="0"/>
                      </a:rPr>
                      <m:t>𝑋</m:t>
                    </m:r>
                    <m:r>
                      <a:rPr lang="en-US" altLang="zh-CN">
                        <a:latin typeface="DejaVu Math TeX Gyre" panose="02000503000000000000" charset="0"/>
                        <a:ea typeface="仿宋" charset="0"/>
                        <a:cs typeface="DejaVu Math TeX Gyre" panose="02000503000000000000" charset="0"/>
                      </a:rPr>
                      <m:t>'</m:t>
                    </m:r>
                    <m:r>
                      <a:rPr lang="en-US" altLang="zh-CN">
                        <a:latin typeface="仿宋" charset="0"/>
                        <a:ea typeface="仿宋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DejaVu Math TeX Gyre" panose="02000503000000000000" charset="0"/>
                            <a:ea typeface="仿宋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（</m:t>
                        </m:r>
                        <m:r>
                          <a:rPr lang="en-US" altLang="zh-CN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𝑋</m:t>
                        </m:r>
                        <m:r>
                          <a:rPr lang="en-US" altLang="zh-CN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 altLang="zh-CN" i="1" u="sng">
                            <a:latin typeface="DejaVu Math TeX Gyre" panose="02000503000000000000" charset="0"/>
                            <a:ea typeface="仿宋" charset="0"/>
                            <a:cs typeface="DejaVu Math TeX Gyre" panose="02000503000000000000" charset="0"/>
                          </a:rPr>
                          <m:t>𝜇</m:t>
                        </m:r>
                        <m:r>
                          <a:rPr lang="en-US" altLang="zh-CN" i="1" u="sng">
                            <a:latin typeface="DejaVu Math TeX Gyre" panose="02000503000000000000" charset="0"/>
                            <a:ea typeface="仿宋" charset="0"/>
                            <a:cs typeface="DejaVu Math TeX Gyre" panose="02000503000000000000" charset="0"/>
                          </a:rPr>
                          <m:t>）</m:t>
                        </m:r>
                      </m:num>
                      <m:den>
                        <m:r>
                          <a:rPr lang="en-US" altLang="zh-CN" i="1">
                            <a:latin typeface="DejaVu Math TeX Gyre" panose="02000503000000000000" charset="0"/>
                            <a:ea typeface="仿宋" charset="0"/>
                            <a:cs typeface="DejaVu Math TeX Gyre" panose="02000503000000000000" charset="0"/>
                          </a:rPr>
                          <m:t>𝜎</m:t>
                        </m:r>
                      </m:den>
                    </m:f>
                  </m:oMath>
                </a14:m>
                <a:endParaRPr lang="en-US" altLang="zh-CN">
                  <a:latin typeface="仿宋" charset="0"/>
                  <a:ea typeface="仿宋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:r>
                  <a:rPr lang="zh-CN" altLang="en-US">
                    <a:latin typeface="仿宋" charset="0"/>
                    <a:ea typeface="仿宋" charset="0"/>
                  </a:rPr>
                  <a:t>稳态学习：时空图神经</a:t>
                </a:r>
                <a:r>
                  <a:rPr lang="zh-CN" altLang="en-US">
                    <a:latin typeface="仿宋" charset="0"/>
                    <a:ea typeface="仿宋" charset="0"/>
                  </a:rPr>
                  <a:t>网络在纯净数据上提取时空特征。</a:t>
                </a:r>
                <a:endParaRPr lang="zh-CN" altLang="en-US">
                  <a:latin typeface="仿宋" charset="0"/>
                  <a:ea typeface="仿宋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:r>
                  <a:rPr lang="zh-CN" altLang="en-US">
                    <a:latin typeface="仿宋" charset="0"/>
                    <a:ea typeface="仿宋" charset="0"/>
                  </a:rPr>
                  <a:t>输出反归一化：利用统计量还原真实值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ea typeface="仿宋" charset="0"/>
                        <a:cs typeface="DejaVu Math TeX Gyre" panose="02000503000000000000" charset="0"/>
                      </a:rPr>
                      <m:t> </m:t>
                    </m:r>
                  </m:oMath>
                </a14:m>
                <a:endParaRPr lang="en-US" altLang="zh-CN" i="1">
                  <a:latin typeface="DejaVu Math TeX Gyre" panose="02000503000000000000" charset="0"/>
                  <a:ea typeface="仿宋" charset="0"/>
                  <a:cs typeface="DejaVu Math TeX Gyre" panose="02000503000000000000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>
                  <a:latin typeface="仿宋" charset="0"/>
                  <a:ea typeface="仿宋" charset="0"/>
                </a:endParaRPr>
              </a:p>
              <a:p>
                <a:pPr marL="0" lvl="0" indent="0">
                  <a:buNone/>
                </a:pPr>
                <a:endParaRPr lang="zh-CN" altLang="en-US">
                  <a:solidFill>
                    <a:schemeClr val="tx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70" y="1484630"/>
                <a:ext cx="4573270" cy="4735830"/>
              </a:xfrm>
              <a:prstGeom prst="rect">
                <a:avLst/>
              </a:prstGeom>
              <a:blipFill rotWithShape="1">
                <a:blip r:embed="rId3"/>
                <a:stretch>
                  <a:fillRect r="-1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7296" y="5589524"/>
                <a:ext cx="19843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𝑌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 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𝑌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’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𝜎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+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𝜇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96" y="5589524"/>
                <a:ext cx="1984375" cy="368300"/>
              </a:xfrm>
              <a:prstGeom prst="rect">
                <a:avLst/>
              </a:prstGeom>
              <a:blipFill rotWithShape="1">
                <a:blip r:embed="rId4"/>
                <a:stretch>
                  <a:fillRect l="-29" t="-69" r="2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陈国烽\WEBANK VI\PPT 方向\PPT 4比3\正文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6870" y="642620"/>
            <a:ext cx="741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  <a:r>
              <a:rPr lang="en-US" altLang="zh-CN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2：</a:t>
            </a:r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基于双图融合的动态拓扑学习</a:t>
            </a:r>
            <a:endParaRPr lang="zh-CN" altLang="en-US" sz="2800" b="1" spc="-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00034" y="1268717"/>
            <a:ext cx="571504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unnamed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510" y="1913890"/>
            <a:ext cx="3876675" cy="38766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56870" y="1484630"/>
                <a:ext cx="4420870" cy="4560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核心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原理</a:t>
                </a:r>
                <a:endPara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>
                    <a:latin typeface="仿宋" panose="02010609060101010101" charset="-122"/>
                    <a:ea typeface="仿宋" panose="02010609060101010101" charset="-122"/>
                  </a:rPr>
                  <a:t>通过自适应融合静态先验与动态推演，精准捕捉外汇市场的时变拓扑结构</a:t>
                </a:r>
                <a:endParaRPr lang="zh-CN" altLang="en-US">
                  <a:latin typeface="仿宋" panose="02010609060101010101" charset="-122"/>
                  <a:ea typeface="仿宋" panose="0201060906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实现流程</a:t>
                </a: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:r>
                  <a:rPr lang="zh-CN" altLang="en-US">
                    <a:latin typeface="仿宋" charset="0"/>
                    <a:ea typeface="仿宋" charset="0"/>
                  </a:rPr>
                  <a:t>静态分支：基于可学习节点嵌入</a:t>
                </a:r>
                <a:endParaRPr lang="zh-CN" altLang="en-US">
                  <a:latin typeface="仿宋" charset="0"/>
                  <a:ea typeface="仿宋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:r>
                  <a:rPr lang="zh-CN" altLang="en-US">
                    <a:latin typeface="仿宋" charset="0"/>
                    <a:ea typeface="仿宋" charset="0"/>
                  </a:rPr>
                  <a:t>动态分支：基于实时输入数据生成</a:t>
                </a:r>
                <a:endParaRPr lang="zh-CN" altLang="en-US">
                  <a:latin typeface="仿宋" charset="0"/>
                  <a:ea typeface="仿宋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自适应融合：通过门控参数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ea typeface="仿宋" charset="0"/>
                        <a:cs typeface="DejaVu Math TeX Gyre" panose="02000503000000000000" charset="0"/>
                      </a:rPr>
                      <m:t>𝛼</m:t>
                    </m:r>
                  </m:oMath>
                </a14:m>
                <a:r>
                  <a:rPr lang="en-US" altLang="zh-CN">
                    <a:latin typeface="仿宋" charset="0"/>
                    <a:ea typeface="仿宋" charset="0"/>
                  </a:rPr>
                  <a:t>动态调节权重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ea typeface="仿宋" charset="0"/>
                        <a:cs typeface="DejaVu Math TeX Gyre" panose="02000503000000000000" charset="0"/>
                      </a:rPr>
                      <m:t> </m:t>
                    </m:r>
                  </m:oMath>
                </a14:m>
                <a:endParaRPr lang="en-US" altLang="zh-CN" i="1">
                  <a:latin typeface="DejaVu Math TeX Gyre" panose="02000503000000000000" charset="0"/>
                  <a:ea typeface="仿宋" charset="0"/>
                  <a:cs typeface="DejaVu Math TeX Gyre" panose="02000503000000000000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𝑠𝑡𝑎𝑡𝑖𝑐</m:t>
                        </m:r>
                      </m:sub>
                    </m:sSub>
                  </m:oMath>
                </a14:m>
                <a:r>
                  <a:rPr lang="zh-CN" altLang="en-US">
                    <a:latin typeface="仿宋" charset="0"/>
                    <a:ea typeface="仿宋" charset="0"/>
                    <a:cs typeface="DejaVu Math TeX Gyre" panose="02000503000000000000" charset="0"/>
                  </a:rPr>
                  <a:t>表示静态图的邻接矩阵</a:t>
                </a:r>
                <a:r>
                  <a:rPr lang="en-US" altLang="zh-CN">
                    <a:latin typeface="仿宋" charset="0"/>
                    <a:ea typeface="仿宋" charset="0"/>
                    <a:cs typeface="DejaVu Math TeX Gyre" panose="02000503000000000000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dynamic</m:t>
                        </m:r>
                      </m:sub>
                    </m:sSub>
                  </m:oMath>
                </a14:m>
                <a:r>
                  <a:rPr lang="zh-CN" altLang="en-US">
                    <a:latin typeface="仿宋" charset="0"/>
                    <a:ea typeface="仿宋" charset="0"/>
                    <a:cs typeface="DejaVu Math TeX Gyre" panose="02000503000000000000" charset="0"/>
                  </a:rPr>
                  <a:t>表示动态图的邻接矩阵</a:t>
                </a:r>
                <a:endParaRPr lang="en-US" altLang="zh-CN">
                  <a:latin typeface="仿宋" charset="0"/>
                  <a:ea typeface="仿宋" charset="0"/>
                </a:endParaRPr>
              </a:p>
              <a:p>
                <a:pPr marL="0" lvl="0" indent="0">
                  <a:buNone/>
                </a:pPr>
                <a:endParaRPr lang="zh-CN" altLang="en-US">
                  <a:solidFill>
                    <a:schemeClr val="tx1"/>
                  </a:solidFill>
                  <a:latin typeface="仿宋" charset="0"/>
                  <a:ea typeface="仿宋" charset="0"/>
                  <a:cs typeface="仿宋" panose="02010609060101010101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70" y="1484630"/>
                <a:ext cx="4420870" cy="45605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95541" y="5877814"/>
                <a:ext cx="4591050" cy="3752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𝑓𝑖𝑛𝑎𝑙</m:t>
                          </m:r>
                        </m:sub>
                      </m:sSub>
                      <m:r>
                        <a:rPr lang="en-US" altLang="zh-CN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 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α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𝑠𝑡𝑎𝑡𝑖𝑐</m:t>
                          </m:r>
                        </m:sub>
                      </m:sSub>
                      <m:r>
                        <a:rPr lang="en-US" altLang="zh-CN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+ (</m:t>
                      </m:r>
                      <m:r>
                        <a:rPr lang="en-US" altLang="zh-CN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altLang="zh-CN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α</m:t>
                      </m:r>
                      <m:r>
                        <a:rPr lang="en-US" altLang="zh-CN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 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dynamic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1" y="5877814"/>
                <a:ext cx="4591050" cy="375285"/>
              </a:xfrm>
              <a:prstGeom prst="rect">
                <a:avLst/>
              </a:prstGeom>
              <a:blipFill rotWithShape="1">
                <a:blip r:embed="rId4"/>
                <a:stretch>
                  <a:fillRect l="-12" t="-68" r="-1730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陈国烽\WEBANK VI\PPT 方向\PPT 4比3\正文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6870" y="642620"/>
            <a:ext cx="741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  <a:r>
              <a:rPr lang="en-US" altLang="zh-CN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3：</a:t>
            </a:r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频域注意力机制</a:t>
            </a:r>
            <a:endParaRPr lang="zh-CN" altLang="en-US" sz="2800" b="1" spc="-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00034" y="1268717"/>
            <a:ext cx="571504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unnamed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215" y="2348865"/>
            <a:ext cx="4883785" cy="21570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56870" y="1484630"/>
                <a:ext cx="3964940" cy="5354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核心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原理</a:t>
                </a:r>
                <a:endPara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>
                    <a:latin typeface="仿宋" panose="02010609060101010101" charset="-122"/>
                    <a:ea typeface="仿宋" panose="02010609060101010101" charset="-122"/>
                  </a:rPr>
                  <a:t>通过频域的全局感受野特性，自适应识别有效趋势，抑制微观结构噪声</a:t>
                </a:r>
                <a:endParaRPr lang="zh-CN" altLang="en-US">
                  <a:latin typeface="仿宋" panose="02010609060101010101" charset="-122"/>
                  <a:ea typeface="仿宋" panose="02010609060101010101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实现流程</a:t>
                </a:r>
                <a:r>
                  <a:rPr lang="en-US" altLang="zh-CN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:r>
                  <a:rPr lang="zh-CN" altLang="en-US">
                    <a:latin typeface="仿宋" charset="0"/>
                    <a:ea typeface="仿宋" charset="0"/>
                  </a:rPr>
                  <a:t>频谱变换</a:t>
                </a:r>
                <a:r>
                  <a:rPr lang="en-US" altLang="zh-CN">
                    <a:latin typeface="仿宋" charset="0"/>
                    <a:ea typeface="仿宋" charset="0"/>
                  </a:rPr>
                  <a:t> (FFT)</a:t>
                </a:r>
                <a:r>
                  <a:rPr lang="zh-CN" altLang="en-US">
                    <a:latin typeface="仿宋" charset="0"/>
                    <a:ea typeface="仿宋" charset="0"/>
                  </a:rPr>
                  <a:t>：将时域序列映射至频域，捕捉全局周期性特征</a:t>
                </a:r>
                <a:endParaRPr lang="zh-CN" altLang="en-US">
                  <a:latin typeface="仿宋" charset="0"/>
                  <a:ea typeface="仿宋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</a:t>
                </a:r>
                <a:r>
                  <a:rPr lang="zh-CN" altLang="en-US">
                    <a:latin typeface="仿宋" charset="0"/>
                    <a:ea typeface="仿宋" charset="0"/>
                  </a:rPr>
                  <a:t>频域掩码</a:t>
                </a:r>
                <a:r>
                  <a:rPr lang="en-US" altLang="zh-CN">
                    <a:latin typeface="仿宋" charset="0"/>
                    <a:ea typeface="仿宋" charset="0"/>
                  </a:rPr>
                  <a:t> (Spectral Mask)</a:t>
                </a:r>
                <a:r>
                  <a:rPr lang="zh-CN" altLang="en-US">
                    <a:latin typeface="仿宋" charset="0"/>
                    <a:ea typeface="仿宋" charset="0"/>
                  </a:rPr>
                  <a:t>：应用可学习的注意力权重，保留低频主成分，过滤高频扰动</a:t>
                </a:r>
                <a:endParaRPr lang="zh-CN" altLang="en-US">
                  <a:latin typeface="仿宋" charset="0"/>
                  <a:ea typeface="仿宋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>
                    <a:latin typeface="仿宋" charset="0"/>
                    <a:ea typeface="仿宋" charset="0"/>
                  </a:rPr>
                  <a:t>-- 无损还原 (iFFT)：将净化后的频谱逆变换回时域，输出纯净信号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DejaVu Math TeX Gyre" panose="02000503000000000000" charset="0"/>
                        <a:ea typeface="仿宋" charset="0"/>
                        <a:cs typeface="DejaVu Math TeX Gyre" panose="02000503000000000000" charset="0"/>
                      </a:rPr>
                      <m:t> </m:t>
                    </m:r>
                  </m:oMath>
                </a14:m>
                <a:endParaRPr lang="en-US" altLang="zh-CN" i="1">
                  <a:latin typeface="DejaVu Math TeX Gyre" panose="02000503000000000000" charset="0"/>
                  <a:ea typeface="仿宋" charset="0"/>
                  <a:cs typeface="DejaVu Math TeX Gyre" panose="02000503000000000000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>
                  <a:latin typeface="仿宋" charset="0"/>
                  <a:ea typeface="仿宋" charset="0"/>
                </a:endParaRPr>
              </a:p>
              <a:p>
                <a:pPr marL="0" lvl="0" indent="0">
                  <a:buNone/>
                </a:pPr>
                <a:endParaRPr lang="zh-CN" altLang="en-US">
                  <a:solidFill>
                    <a:schemeClr val="tx1"/>
                  </a:solidFill>
                  <a:latin typeface="仿宋" charset="0"/>
                  <a:ea typeface="仿宋" charset="0"/>
                  <a:cs typeface="仿宋" panose="02010609060101010101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70" y="1484630"/>
                <a:ext cx="3964940" cy="53543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陈国烽\WEBANK VI\PPT 方向\PPT 4比3\正文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6870" y="642620"/>
            <a:ext cx="741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及实验结果</a:t>
            </a:r>
            <a:endParaRPr lang="en-US" altLang="zh-CN" sz="2800" b="1" spc="-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00034" y="1268717"/>
            <a:ext cx="571504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56870" y="1484630"/>
            <a:ext cx="840676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数据收集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charset="0"/>
                <a:ea typeface="仿宋" charset="0"/>
              </a:rPr>
              <a:t>-- 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2020年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1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月-2024年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12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月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的G10货币的主要货币对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（28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个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）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的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1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小时级别数据</a:t>
            </a:r>
            <a:endParaRPr lang="en-US" altLang="zh-CN">
              <a:latin typeface="仿宋" charset="0"/>
              <a:ea typeface="仿宋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charset="0"/>
                <a:ea typeface="仿宋" charset="0"/>
                <a:sym typeface="+mn-ea"/>
              </a:rPr>
              <a:t>-- 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2020年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1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月-2024年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12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月的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原油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，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黄金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，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美元指数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的</a:t>
            </a:r>
            <a:r>
              <a:rPr lang="en-US" altLang="zh-CN">
                <a:latin typeface="仿宋" charset="0"/>
                <a:ea typeface="仿宋" charset="0"/>
                <a:sym typeface="+mn-ea"/>
              </a:rPr>
              <a:t>1</a:t>
            </a:r>
            <a:r>
              <a:rPr lang="zh-CN" altLang="en-US">
                <a:latin typeface="仿宋" charset="0"/>
                <a:ea typeface="仿宋" charset="0"/>
                <a:sym typeface="+mn-ea"/>
              </a:rPr>
              <a:t>小时级别数据</a:t>
            </a:r>
            <a:endParaRPr lang="zh-CN" altLang="en-US">
              <a:latin typeface="仿宋" charset="0"/>
              <a:ea typeface="仿宋" charset="0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 实验结果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仿宋" charset="0"/>
                <a:ea typeface="仿宋" charset="0"/>
              </a:rPr>
              <a:t>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/>
              <p:nvPr>
                <p:custDataLst>
                  <p:tags r:id="rId2"/>
                </p:custDataLst>
              </p:nvPr>
            </p:nvGraphicFramePr>
            <p:xfrm>
              <a:off x="791845" y="3429000"/>
              <a:ext cx="6930390" cy="2491740"/>
            </p:xfrm>
            <a:graphic>
              <a:graphicData uri="http://schemas.openxmlformats.org/drawingml/2006/table">
                <a:tbl>
                  <a:tblPr firstRow="1">
                    <a:tableStyleId>{846EFA65-CDF3-4015-960A-E29621B46B0A}</a:tableStyleId>
                  </a:tblPr>
                  <a:tblGrid>
                    <a:gridCol w="1291590"/>
                    <a:gridCol w="1127760"/>
                    <a:gridCol w="1127760"/>
                    <a:gridCol w="1127760"/>
                    <a:gridCol w="1127760"/>
                    <a:gridCol w="1127760"/>
                  </a:tblGrid>
                  <a:tr h="5810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模型变体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RevIN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Dual Graph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Freq Attn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RMSE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1" i="1">
                                  <a:latin typeface="DejaVu Math TeX Gyre" panose="02000503000000000000" charset="0"/>
                                  <a:ea typeface="+mj-ea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zh-CN" sz="1600" b="1" i="1">
                                  <a:latin typeface="DejaVu Math TeX Gyre" panose="02000503000000000000" charset="0"/>
                                  <a:ea typeface="+mj-ea"/>
                                  <a:cs typeface="DejaVu Math TeX Gyre" panose="02000503000000000000" charset="0"/>
                                </a:rPr>
                                <m:t>↓)</m:t>
                              </m:r>
                            </m:oMath>
                          </a14:m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MAE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1" i="1">
                                  <a:latin typeface="DejaVu Math TeX Gyre" panose="02000503000000000000" charset="0"/>
                                  <a:ea typeface="+mj-ea"/>
                                  <a:cs typeface="DejaVu Math TeX Gyre" panose="02000503000000000000" charset="0"/>
                                </a:rPr>
                                <m:t>(↓)</m:t>
                              </m:r>
                            </m:oMath>
                          </a14:m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  <a:p>
                          <a:pPr algn="ctr">
                            <a:buNone/>
                          </a:pP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MTGNN(base)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2.4691 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0.4916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+ Norm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1.1558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0.1646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+ Topology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1.1546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0.1643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163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+ Denoise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</a:t>
                          </a: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Ours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>
                                    <a:latin typeface="DejaVu Math TeX Gyre" panose="02000503000000000000" charset="0"/>
                                    <a:ea typeface="+mj-ea"/>
                                    <a:cs typeface="DejaVu Math TeX Gyre" panose="02000503000000000000" charset="0"/>
                                  </a:rPr>
                                  <m:t>√</m:t>
                                </m:r>
                              </m:oMath>
                            </m:oMathPara>
                          </a14:m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</a:t>
                          </a: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/>
              <p:nvPr>
                <p:custDataLst>
                  <p:tags r:id="rId3"/>
                </p:custDataLst>
              </p:nvPr>
            </p:nvGraphicFramePr>
            <p:xfrm>
              <a:off x="791845" y="3429000"/>
              <a:ext cx="6930390" cy="2491740"/>
            </p:xfrm>
            <a:graphic>
              <a:graphicData uri="http://schemas.openxmlformats.org/drawingml/2006/table">
                <a:tbl>
                  <a:tblPr firstRow="1">
                    <a:tableStyleId>{846EFA65-CDF3-4015-960A-E29621B46B0A}</a:tableStyleId>
                  </a:tblPr>
                  <a:tblGrid>
                    <a:gridCol w="1291590"/>
                    <a:gridCol w="1127760"/>
                    <a:gridCol w="1127760"/>
                    <a:gridCol w="1127760"/>
                    <a:gridCol w="1127760"/>
                    <a:gridCol w="1127760"/>
                  </a:tblGrid>
                  <a:tr h="5810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模型变体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RevIN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Dual Graph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Freq Attn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MTGNN(base)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2.4691 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0.4916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+ Norm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1.1558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0.1646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+ Topology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1.1546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0.1643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163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+ Denoise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</a:t>
                          </a: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  <a:tr h="38227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sz="1600">
                              <a:latin typeface="+mj-ea"/>
                              <a:ea typeface="+mj-ea"/>
                            </a:rPr>
                            <a:t>Ours</a:t>
                          </a:r>
                          <a:endParaRPr lang="en-US" altLang="zh-CN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待</a:t>
                          </a:r>
                          <a:r>
                            <a:rPr lang="zh-CN" altLang="en-US" sz="1600">
                              <a:latin typeface="+mj-ea"/>
                              <a:ea typeface="+mj-ea"/>
                            </a:rPr>
                            <a:t>实验</a:t>
                          </a:r>
                          <a:endParaRPr lang="zh-CN" altLang="en-US" sz="1600">
                            <a:latin typeface="+mj-ea"/>
                            <a:ea typeface="+mj-ea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陈国烽\WEBANK VI\PPT 方向\PPT 4比3\正文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6870" y="642620"/>
            <a:ext cx="741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趋势预测可视化</a:t>
            </a:r>
            <a:r>
              <a:rPr lang="en-US" altLang="zh-CN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en-US" altLang="zh-CN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b="1" spc="-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00034" y="1268717"/>
            <a:ext cx="571504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forecast_comparison_mainstream_sol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1484630"/>
            <a:ext cx="8753475" cy="5088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E:\陈国烽\WEBANK VI\PPT 方向\PPT 4比3\正文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56870" y="642620"/>
            <a:ext cx="7411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未来工作</a:t>
            </a:r>
            <a:r>
              <a:rPr lang="en-US" altLang="zh-CN" sz="2800" b="1" spc="-1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b="1" spc="-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00034" y="1268717"/>
            <a:ext cx="571504" cy="1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56870" y="1484630"/>
            <a:ext cx="8406765" cy="521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基于预测信号的统计套利策略设计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charset="0"/>
                <a:ea typeface="仿宋" charset="0"/>
                <a:cs typeface="仿宋" charset="0"/>
                <a:sym typeface="+mn-ea"/>
              </a:rPr>
              <a:t>-- </a:t>
            </a:r>
            <a:r>
              <a:rPr lang="zh-CN" altLang="en-US">
                <a:latin typeface="仿宋" charset="0"/>
                <a:ea typeface="仿宋" charset="0"/>
                <a:cs typeface="仿宋" charset="0"/>
                <a:sym typeface="+mn-ea"/>
              </a:rPr>
              <a:t>策略构建</a:t>
            </a:r>
            <a:r>
              <a:rPr lang="en-US" altLang="zh-CN">
                <a:latin typeface="仿宋" charset="0"/>
                <a:ea typeface="仿宋" charset="0"/>
                <a:cs typeface="仿宋" charset="0"/>
                <a:sym typeface="+mn-ea"/>
              </a:rPr>
              <a:t>：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利用模型输出的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t+1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时刻动态邻接矩阵，识别强相关货币对。当强连接节点间出现预测价差偏离时，执行配对交易以捕捉均值回归收益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。</a:t>
            </a:r>
            <a:endParaRPr lang="zh-CN" altLang="en-US">
              <a:latin typeface="仿宋" charset="0"/>
              <a:ea typeface="仿宋" charset="0"/>
              <a:cs typeface="仿宋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charset="0"/>
                <a:ea typeface="仿宋" charset="0"/>
                <a:cs typeface="仿宋" charset="0"/>
                <a:sym typeface="+mn-ea"/>
              </a:rPr>
              <a:t>-- </a:t>
            </a:r>
            <a:r>
              <a:rPr lang="zh-CN" altLang="en-US">
                <a:latin typeface="仿宋" charset="0"/>
                <a:ea typeface="仿宋" charset="0"/>
                <a:cs typeface="仿宋" charset="0"/>
                <a:sym typeface="+mn-ea"/>
              </a:rPr>
              <a:t>实证回测</a:t>
            </a:r>
            <a:r>
              <a:rPr lang="en-US" altLang="zh-CN">
                <a:latin typeface="仿宋" charset="0"/>
                <a:ea typeface="仿宋" charset="0"/>
                <a:cs typeface="仿宋" charset="0"/>
                <a:sym typeface="+mn-ea"/>
              </a:rPr>
              <a:t>：</a:t>
            </a:r>
            <a:r>
              <a:rPr lang="zh-CN" altLang="en-US">
                <a:latin typeface="仿宋" charset="0"/>
                <a:ea typeface="仿宋" charset="0"/>
                <a:cs typeface="仿宋" charset="0"/>
                <a:sym typeface="+mn-ea"/>
              </a:rPr>
              <a:t>在考虑交易成本与滑点的真实环境下进行回测，利用夏普比率与最大回撤验证策略在实战中的稳健性与盈利能力</a:t>
            </a:r>
            <a:r>
              <a:rPr lang="en-US" altLang="zh-CN">
                <a:latin typeface="仿宋" charset="0"/>
                <a:ea typeface="仿宋" charset="0"/>
                <a:cs typeface="仿宋" charset="0"/>
                <a:sym typeface="+mn-ea"/>
              </a:rPr>
              <a:t>。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模型适用性验证与多维性能评估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charset="0"/>
                <a:ea typeface="仿宋" charset="0"/>
              </a:rPr>
              <a:t>-- </a:t>
            </a:r>
            <a:r>
              <a:rPr lang="zh-CN" altLang="en-US">
                <a:latin typeface="仿宋" charset="0"/>
                <a:ea typeface="仿宋" charset="0"/>
              </a:rPr>
              <a:t>多维度对比</a:t>
            </a:r>
            <a:r>
              <a:rPr lang="en-US" altLang="zh-CN">
                <a:latin typeface="仿宋" charset="0"/>
                <a:ea typeface="仿宋" charset="0"/>
              </a:rPr>
              <a:t>：</a:t>
            </a:r>
            <a:r>
              <a:rPr lang="zh-CN" altLang="en-US">
                <a:latin typeface="仿宋" charset="0"/>
                <a:ea typeface="仿宋" charset="0"/>
              </a:rPr>
              <a:t>对比传统深度学习模型与现今流行另一种范式的</a:t>
            </a:r>
            <a:r>
              <a:rPr lang="zh-CN" altLang="en-US">
                <a:latin typeface="仿宋" charset="0"/>
                <a:ea typeface="仿宋" charset="0"/>
              </a:rPr>
              <a:t>模型，验证图结构在捕捉多货币对联动性与跨品种套利机会上的独特优势。</a:t>
            </a:r>
            <a:endParaRPr lang="zh-CN" altLang="en-US">
              <a:latin typeface="仿宋" charset="0"/>
              <a:ea typeface="仿宋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仿宋" charset="0"/>
                <a:ea typeface="仿宋" charset="0"/>
              </a:rPr>
              <a:t>-- </a:t>
            </a:r>
            <a:r>
              <a:rPr lang="zh-CN" altLang="en-US">
                <a:latin typeface="仿宋" charset="0"/>
                <a:ea typeface="仿宋" charset="0"/>
              </a:rPr>
              <a:t>评估指标设计</a:t>
            </a:r>
            <a:r>
              <a:rPr lang="en-US" altLang="zh-CN">
                <a:latin typeface="仿宋" charset="0"/>
                <a:ea typeface="仿宋" charset="0"/>
              </a:rPr>
              <a:t>：</a:t>
            </a:r>
            <a:r>
              <a:rPr lang="zh-CN" altLang="en-US">
                <a:latin typeface="仿宋" charset="0"/>
                <a:ea typeface="仿宋" charset="0"/>
              </a:rPr>
              <a:t>除预测误差指标外</a:t>
            </a:r>
            <a:r>
              <a:rPr lang="en-US" altLang="zh-CN">
                <a:latin typeface="仿宋" charset="0"/>
                <a:ea typeface="仿宋" charset="0"/>
              </a:rPr>
              <a:t>，</a:t>
            </a:r>
            <a:r>
              <a:rPr lang="zh-CN" altLang="en-US">
                <a:latin typeface="仿宋" charset="0"/>
                <a:ea typeface="仿宋" charset="0"/>
              </a:rPr>
              <a:t>还应引入另外一些金融导向指标</a:t>
            </a:r>
            <a:r>
              <a:rPr lang="en-US" altLang="zh-CN">
                <a:latin typeface="仿宋" charset="0"/>
                <a:ea typeface="仿宋" charset="0"/>
              </a:rPr>
              <a:t>，</a:t>
            </a:r>
            <a:r>
              <a:rPr lang="zh-CN" altLang="en-US">
                <a:latin typeface="仿宋" charset="0"/>
                <a:ea typeface="仿宋" charset="0"/>
              </a:rPr>
              <a:t>如方向准确率与信息比率</a:t>
            </a:r>
            <a:r>
              <a:rPr lang="en-US" altLang="zh-CN">
                <a:latin typeface="仿宋" charset="0"/>
                <a:ea typeface="仿宋" charset="0"/>
              </a:rPr>
              <a:t>，</a:t>
            </a:r>
            <a:r>
              <a:rPr lang="zh-CN" altLang="en-US">
                <a:latin typeface="仿宋" charset="0"/>
                <a:ea typeface="仿宋" charset="0"/>
              </a:rPr>
              <a:t>评估模型对趋势方向的判别力与单位风险下的超额预测收益</a:t>
            </a:r>
            <a:r>
              <a:rPr lang="en-US" altLang="zh-CN">
                <a:latin typeface="仿宋" charset="0"/>
                <a:ea typeface="仿宋" charset="0"/>
              </a:rPr>
              <a:t>。</a:t>
            </a:r>
            <a:endParaRPr lang="zh-CN" altLang="en-US">
              <a:latin typeface="仿宋" charset="0"/>
              <a:ea typeface="仿宋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仿宋" charset="0"/>
                <a:ea typeface="仿宋" charset="0"/>
              </a:rPr>
              <a:t>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marL="0" lvl="0" indent="0">
              <a:buNone/>
            </a:pPr>
            <a:endParaRPr lang="zh-CN" altLang="en-US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陈国烽\WEBANK VI\PPT 方向\PPT 4比3\新结尾页1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500298" y="2719984"/>
            <a:ext cx="4143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54400" y="3667456"/>
            <a:ext cx="2235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金融先锋 科技向善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32*211"/>
  <p:tag name="TABLE_ENDDRAG_RECT" val="59*280*532*211"/>
</p:tagLst>
</file>

<file path=ppt/tags/tag2.xml><?xml version="1.0" encoding="utf-8"?>
<p:tagLst xmlns:p="http://schemas.openxmlformats.org/presentationml/2006/main">
  <p:tag name="TABLE_ENDDRAG_ORIGIN_RECT" val="532*211"/>
  <p:tag name="TABLE_ENDDRAG_RECT" val="59*280*532*211"/>
</p:tagLst>
</file>

<file path=ppt/tags/tag3.xml><?xml version="1.0" encoding="utf-8"?>
<p:tagLst xmlns:p="http://schemas.openxmlformats.org/presentationml/2006/main">
  <p:tag name="commondata" val="eyJoZGlkIjoiYWJiODIzMzE5NzRmNmQ0ZDBmODRjYTZlMDIwYTAyODkifQ=="/>
  <p:tag name="resource_record_key" val="{&quot;29&quot;:[5000028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1444</Words>
  <Application>WPS 演示</Application>
  <PresentationFormat>全屏显示(4:3)</PresentationFormat>
  <Paragraphs>158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Arial</vt:lpstr>
      <vt:lpstr>宋体</vt:lpstr>
      <vt:lpstr>Wingdings</vt:lpstr>
      <vt:lpstr>黑体</vt:lpstr>
      <vt:lpstr>汉仪中黑KW</vt:lpstr>
      <vt:lpstr>微软雅黑</vt:lpstr>
      <vt:lpstr>汉仪旗黑</vt:lpstr>
      <vt:lpstr>仿宋</vt:lpstr>
      <vt:lpstr>Wingdings</vt:lpstr>
      <vt:lpstr>DejaVu Math TeX Gyre</vt:lpstr>
      <vt:lpstr>仿宋</vt:lpstr>
      <vt:lpstr>宋体</vt:lpstr>
      <vt:lpstr>汉仪书宋二KW</vt:lpstr>
      <vt:lpstr>方正仿宋_GBK</vt:lpstr>
      <vt:lpstr>Calibri</vt:lpstr>
      <vt:lpstr>Helvetica Neue</vt:lpstr>
      <vt:lpstr>Arial Unicode MS</vt:lpstr>
      <vt:lpstr>微软雅黑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PC</dc:creator>
  <cp:lastModifiedBy>梁震霖</cp:lastModifiedBy>
  <cp:revision>32</cp:revision>
  <dcterms:created xsi:type="dcterms:W3CDTF">2026-03-02T15:01:04Z</dcterms:created>
  <dcterms:modified xsi:type="dcterms:W3CDTF">2026-03-02T15:01:04Z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7AE13AD754DFC2125DA4A5698EDEFD6B_43</vt:lpwstr>
  </property>
  <property fmtid="{D5CDD505-2E9C-101B-9397-08002B2CF9AE}" pid="3" name="KSOProductBuildVer">
    <vt:lpwstr>2052-12.1.24031.24031</vt:lpwstr>
  </property>
</Properties>
</file>